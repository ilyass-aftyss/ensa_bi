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457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ÉCOLE NATIONALE DES SCIENCES APPLIQUÉES — KÉNITRA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Université Ibn Tofail  |  Academic Year 2024–2025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5943600" cy="4572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Secure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CCFF"/>
                </a:solidFill>
              </a:rPr>
              <a:t>ETL Pipeline  ·  Star Schema DW  ·  JWT REST API  ·  Interactive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2468880" cy="1371600"/>
          </a:xfrm>
          <a:prstGeom prst="rect">
            <a:avLst/>
          </a:prstGeom>
          <a:solidFill>
            <a:srgbClr val="0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246888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67,433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8172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Records Processed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114800"/>
            <a:ext cx="2468880" cy="1371600"/>
          </a:xfrm>
          <a:prstGeom prst="rect">
            <a:avLst/>
          </a:prstGeom>
          <a:solidFill>
            <a:srgbClr val="0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224528"/>
            <a:ext cx="246888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8172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API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2468880" cy="1371600"/>
          </a:xfrm>
          <a:prstGeom prst="rect">
            <a:avLst/>
          </a:prstGeom>
          <a:solidFill>
            <a:srgbClr val="0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224528"/>
            <a:ext cx="246888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8172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Tests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114800"/>
            <a:ext cx="2468880" cy="1371600"/>
          </a:xfrm>
          <a:prstGeom prst="rect">
            <a:avLst/>
          </a:prstGeom>
          <a:solidFill>
            <a:srgbClr val="0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224528"/>
            <a:ext cx="246888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68172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User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F8A"/>
                </a:solidFill>
              </a:rPr>
              <a:t>ENSA Kénitra  ·  Secure BI Platform  · 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PRESENTATION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Project Context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Why ENSA needed a BI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276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Technology stack &amp; 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5176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ETL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Extract → Transform → 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5176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816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Star Schema Data Warehouse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Dimensional modeling &amp; OLAP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1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2219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REST API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519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FastAPI + JWT +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913631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82219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Streamlit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2519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5 interactive analytics pages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4632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84632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1091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9194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Cloud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349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Railway + Streamlit Cloud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846320"/>
            <a:ext cx="5394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846320"/>
            <a:ext cx="502920" cy="9601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01091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9194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8A"/>
                </a:solidFill>
              </a:rPr>
              <a:t>Results &amp; Conclusion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349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Key metrics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01  ·  CONTEXT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ENSA Kénitra Needed BI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9496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 Challenges Before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0391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2996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centralized visibility into academic KPIs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15768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697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8833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Fragmented grade &amp; enrollment data across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74136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3558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46704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budget execution monitoring per department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4014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Impossible to track multi-year dropout trends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9087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7258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unified room utilization or scheduling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49240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53309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218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Manual, error-prone Excel-based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463040"/>
            <a:ext cx="56692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463040"/>
            <a:ext cx="5669280" cy="4572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Project Objectives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057400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20391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Automate ETL: extract, clean &amp; load all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15768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2697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6883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Build star-schema data warehouse (OLAP-ready)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374136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33558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3467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Expose 15 KPI endpoints with JWT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32504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014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005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Deploy interactive 5-page Streamlit dashboard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690872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467258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Enforce RBAC for admin / direction / professeur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349240"/>
            <a:ext cx="256032" cy="25603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53309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321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Deploy on Railway + Streamlit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02  ·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5-Layer BI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82296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 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CSV files: students, grades, finance, schedule, rooms, teachers (67,433 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50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41448"/>
            <a:ext cx="11430000" cy="82296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  ETL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254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generate_data → extract → transform (QA) → load  |  Python + Pandas + SQLAlchemy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82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6"/>
            <a:ext cx="11430000" cy="8229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03 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581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PostgreSQL 14: OLTP tables (10) + Star Schema DW (7 DIM + 5 FACT) + OLAP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15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06824"/>
            <a:ext cx="114300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52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04 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90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FastAPI 0.136 + uvicorn  |  JWT HS256 + RBAC  |  15 endpoints  |  Swagger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148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39512"/>
            <a:ext cx="11430000" cy="8229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05 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Streamlit 1.45 + Plotly  |  5 pages  |  Hosted on Streamlit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02  · 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Complete 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486400" cy="41148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636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 Backend /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3911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Python 3.11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03911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FastAPI 0.136.3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775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SQLAlchemy 2.0.50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58775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Pydantic 2.13.4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3639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python-jose (JWT)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13639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passlib + bcrypt 4.0.1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0876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636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🔄  ETL &amp;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3911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Pandas 2.2.3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03911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NumPy 2.2.6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8775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psycopg2-binary 2.9.12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58775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python-dotenv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3639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Custom generators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13639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Idempotent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77639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977639"/>
            <a:ext cx="5486400" cy="41148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3250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50799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Streamlit 1.45.0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50799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Plotly 5.24.1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Requests 2.34.2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505663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Multi-page 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0527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JWT auth client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60527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Cached API calls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977639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977639"/>
            <a:ext cx="5486400" cy="4114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03250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  Infrastructure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50799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Railway (API)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52560" y="450799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Railway PostgreSQL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05663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Streamlit Cloud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5056631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GitHub CI/CD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60527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Environment secrets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5605272"/>
            <a:ext cx="23774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HTTPS / TLS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03  ·  ETL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Extract → Transform →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0" cy="7315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DEEFF"/>
                </a:solidFill>
              </a:rPr>
              <a:t>generate_data.py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1,200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71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59,540 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54 teachers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0690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3,000 schedules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67,433 total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554480"/>
            <a:ext cx="2743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554480"/>
            <a:ext cx="2743200" cy="7315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609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DEEFF"/>
                </a:solidFill>
              </a:rPr>
              <a:t>extract.py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Reads 10 CSV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971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Type 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Date parsing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0690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DataFrames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Row count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554480"/>
            <a:ext cx="2743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2743200" cy="7315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609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DEEFF"/>
                </a:solidFill>
              </a:rPr>
              <a:t>transform.py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Null imputation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971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Anomaly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Email repair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0690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Grade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Finance QA 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1554480"/>
            <a:ext cx="2743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1554480"/>
            <a:ext cx="2743200" cy="7315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609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DEEFF"/>
                </a:solidFill>
              </a:rPr>
              <a:t>load.py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Auto-creates tables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971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TRUNCATE + INSERT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Idempotent runs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0690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500-row chunks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~10s total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648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7A4B"/>
                </a:solidFill>
              </a:rPr>
              <a:t>✓  0 invalid grades  |  2 salaries imputed  |  2 finance anomalies flagged  |  1,200 emails validated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04  ·  STAR SCHEMA DATA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Dimensional Modeling — Kimball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743200"/>
            <a:ext cx="3200400" cy="123444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816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20A"/>
                </a:solidFill>
              </a:rPr>
              <a:t>FACT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182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fact_grades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429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fact_enrollments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675887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fact_finance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55448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55448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1,200 students
Filière, year, origin</a:t>
            </a:r>
          </a:p>
          <a:p>
            <a:r>
              <a:t>Filière, year, origin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55448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55448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10 periods
5 years × 2 semesters</a:t>
            </a:r>
          </a:p>
          <a:p>
            <a:r>
              <a:t>5 years × 2 semesters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5448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87 courses
Credits, filière, semester</a:t>
            </a:r>
          </a:p>
          <a:p>
            <a:r>
              <a:t>Credits, filière, semester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7200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57200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085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dim_teacher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54 teachers
Grade, dept, salary</a:t>
            </a:r>
          </a:p>
          <a:p>
            <a:r>
              <a:t>Grade, dept, salary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57200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457200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6085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834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20 rooms
Amphis, TP, Labs</a:t>
            </a:r>
          </a:p>
          <a:p>
            <a:r>
              <a:t>Amphis, TP, Labs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57200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572000"/>
            <a:ext cx="2743200" cy="347472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6085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F8A"/>
                </a:solidFill>
              </a:rPr>
              <a:t>dim_filiere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834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5 tracks
GI-BD, GI-GL, GSTR…</a:t>
            </a:r>
          </a:p>
          <a:p>
            <a:r>
              <a:t>GI-BD, GI-GL, GSTR…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8A"/>
                </a:solidFill>
              </a:rPr>
              <a:t>5 Pre-built OLAP Views: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olap_performance_par_filiere  ·  olap_inscriptions  ·  olap_budget_execution  ·  olap_occupation_salles  ·  olap_charge_enseignants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05  ·  REST API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FastAPI + JWT HS256 + RBAC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132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7132320" cy="384048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JWT Authentication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1188720" cy="1143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029968"/>
            <a:ext cx="1152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POST /auth/token
(username+password)</a:t>
            </a:r>
          </a:p>
          <a:p>
            <a:r>
              <a:t>(username+password)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6232" y="1965960"/>
            <a:ext cx="1188720" cy="1143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2029968"/>
            <a:ext cx="1152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Verify bcrypt
hash</a:t>
            </a:r>
          </a:p>
          <a:p>
            <a:r>
              <a:t>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965960"/>
            <a:ext cx="1188720" cy="1143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2029968"/>
            <a:ext cx="1152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Generate JWT
(HS256, 60min)</a:t>
            </a:r>
          </a:p>
          <a:p>
            <a:r>
              <a:t>(HS256, 60min)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2855" y="1965960"/>
            <a:ext cx="1188720" cy="114300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029968"/>
            <a:ext cx="1152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Return
access_token</a:t>
            </a:r>
          </a:p>
          <a:p>
            <a:r>
              <a:t>access_token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20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6168" y="1965960"/>
            <a:ext cx="1188720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2029968"/>
            <a:ext cx="1152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Bearer token
on all requests</a:t>
            </a:r>
          </a:p>
          <a:p>
            <a:r>
              <a:t>on all requests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463040"/>
            <a:ext cx="395935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463040"/>
            <a:ext cx="3959352" cy="384048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5179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👥  RBAC Permission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F8A"/>
                </a:solidFill>
              </a:rPr>
              <a:t>Permission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920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F8A"/>
                </a:solidFill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920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F8A"/>
                </a:solidFill>
              </a:rPr>
              <a:t>Dir.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1920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3F8A"/>
                </a:solidFill>
              </a:rPr>
              <a:t>Prof.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240280"/>
            <a:ext cx="3886200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6992" y="2258568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Academic KPIs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258568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258568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2258568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2542032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256032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Financial KPIs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560320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560320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2560320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843784"/>
            <a:ext cx="3886200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36992" y="2862072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HR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86207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286207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286207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3145536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3163824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Write 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316382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4B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316382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27080" y="316382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657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 Endpoint Catalog — 15 Endpoints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041648"/>
            <a:ext cx="502920" cy="47548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41330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" y="404164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40782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/auth/token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4288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Authenticate → JWT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404164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15968" y="41330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18888" y="404164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92040" y="40782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/students/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4288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Paginated student list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404164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7888" y="41330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50808" y="404164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23960" y="40782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/students/by-filiere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4288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Count per track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68172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4048" y="4773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" y="468172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47183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/students/evolution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49286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Enrollment trends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468172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15968" y="4773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18888" y="468172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92040" y="47183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/kpi/overview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49286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Dashboard aggregates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68172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47888" y="4773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50808" y="468172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23960" y="47183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/kpi/success-rate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23960" y="49286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Pass rate by filière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32180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" y="5413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6968" y="532180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" y="53583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/kpi/abandon-rate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" y="5568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Dropout analysis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0" y="532180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15968" y="5413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18888" y="532180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92040" y="53583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/kpi/avg-grade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92040" y="5568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Average grades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0" y="532180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47888" y="5413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50808" y="532180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23960" y="53583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/kpi/top-filieres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23960" y="5568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Filière ranking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96188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4048" y="60533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68" y="596188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" y="59984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/kpi/teacher-workload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0120" y="620877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Teaching hours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97680" y="596188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315968" y="60533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18888" y="596188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92040" y="59984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/kpi/room-occupancy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92040" y="620877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Room utilization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0" y="5961888"/>
            <a:ext cx="502920" cy="47548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47888" y="60533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750808" y="5961888"/>
            <a:ext cx="3337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823960" y="59984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3F8A"/>
                </a:solidFill>
              </a:rPr>
              <a:t>/kpi/enrollments-summary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23960" y="620877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8C8D"/>
                </a:solidFill>
              </a:rPr>
              <a:t>Enrollment stats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06  ·  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5-Page Interactive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383280" cy="5029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3474720" cy="50292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🏠 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4 KPI cards: enrollment, success rate,
dropout rate, budget execution</a:t>
            </a:r>
          </a:p>
          <a:p>
            <a:r>
              <a:t>dropout rate, budget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554480"/>
            <a:ext cx="3474720" cy="5029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2128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Grade distributions, pass/fail trends,
filière rankings, year comparisons</a:t>
            </a:r>
          </a:p>
          <a:p>
            <a:r>
              <a:t>filière rankings, year comparisons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554480"/>
            <a:ext cx="347472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🏫 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2128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Room occupancy heatmap, teaching loads,
credit distribution per track</a:t>
            </a:r>
          </a:p>
          <a:p>
            <a:r>
              <a:t>credit distribution per track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1148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40280" y="4114800"/>
            <a:ext cx="3474720" cy="5029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77316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Budget vs. expenditure charts,
anomaly alerts, execution trends</a:t>
            </a:r>
          </a:p>
          <a:p>
            <a:r>
              <a:t>anomaly alerts, execution 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41148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4114800"/>
            <a:ext cx="34747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 Human 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7316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Enrollment evolution, faculty workload,
department distributions</a:t>
            </a:r>
          </a:p>
          <a:p>
            <a:r>
              <a:t>department distributions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F8C8D"/>
                </a:solidFill>
              </a:rPr>
              <a:t>All pages authenticate via JWT · Streamlit @st.cache_data (300s TTL) for API response caching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07  · 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Railway + Streamlit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486400" cy="45720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Railway (Backend)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1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13969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139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FastAPI + uvicorn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79806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79806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PostgreSQL 14+ (managed)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456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456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uvicorn app.main:app --host 0.0.0.0 --port $PORT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59935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41148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Root 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bi-project/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18304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77316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Auto-var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773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DATABASE_URL (injected)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76671"/>
            <a:ext cx="1005840" cy="502920"/>
          </a:xfrm>
          <a:prstGeom prst="rect">
            <a:avLst/>
          </a:prstGeom>
          <a:solidFill>
            <a:srgbClr val="7B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543153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4315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SECRET_KEY, ENVIRONMENT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0876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508760"/>
            <a:ext cx="5577840" cy="4572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🎈  Streamlit Cloud (Frontend)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084831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13969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21396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github.com/&lt;user&gt;/&lt;repo&gt;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743200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79806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2798063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401568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456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Main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34564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bi-project/dashboard/streamlit_app.py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059935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41148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Reqs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4114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bi-project/requirements-dashboard.txt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4718304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477316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Secret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4773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API_URL = https://api.up.railway.app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376671"/>
            <a:ext cx="1005840" cy="5029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543153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7" y="543153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3.11 (auto-detected)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73152" cy="557784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08  ·  RESULTS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Testing, Metrics &amp; Key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148840" cy="137160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18488"/>
            <a:ext cx="214884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Tests Passed
100% Coverage</a:t>
            </a:r>
          </a:p>
          <a:p>
            <a:r>
              <a:t>100%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508760"/>
            <a:ext cx="2148840" cy="13716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618488"/>
            <a:ext cx="214884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67,433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075688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Records
Processed</a:t>
            </a:r>
          </a:p>
          <a:p>
            <a:r>
              <a:t>Processed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1508760"/>
            <a:ext cx="2148840" cy="13716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618488"/>
            <a:ext cx="214884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&lt;13s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075688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ETL Pipeline
Duration</a:t>
            </a:r>
          </a:p>
          <a:p>
            <a:r>
              <a:t>Duration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1508760"/>
            <a:ext cx="2148840" cy="137160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618488"/>
            <a:ext cx="214884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075688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DW Tables
(7 DIM + 5 FACT)</a:t>
            </a:r>
          </a:p>
          <a:p>
            <a:r>
              <a:t>(7 DIM + 5 FACT)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9216" y="1508760"/>
            <a:ext cx="214884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9216" y="1618488"/>
            <a:ext cx="2148840" cy="754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2075688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E8FF"/>
                </a:solidFill>
              </a:rPr>
              <a:t>Secured API
Endpoints</a:t>
            </a:r>
          </a:p>
          <a:p>
            <a:r>
              <a:t>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6858000" cy="3657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Validation Test 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6858000" cy="4297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34930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FastAPI &amp; Security Imports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493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All modules importable, no missing deps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6858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950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JWT + RBAC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9502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Token generation, role enforcement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6858000" cy="4297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" y="44074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407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ETL Extract Phase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07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10 CSV files read, row counts validated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00600"/>
            <a:ext cx="6858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006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48646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ETL Transform Phase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4864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Anomalies detected, nulls imputed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257800"/>
            <a:ext cx="6858000" cy="4297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52578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53218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321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Star Schema 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3218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DDL valid, all 12 tables + 5 views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715000"/>
            <a:ext cx="6858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715000"/>
            <a:ext cx="457200" cy="42976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" y="57790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79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Dashboard Utils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5779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F8C8D"/>
                </a:solidFill>
              </a:rPr>
              <a:t>Constants, colors, API client structure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017520"/>
            <a:ext cx="4325112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79" y="3017520"/>
            <a:ext cx="4325112" cy="36576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3063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3456432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98664" y="346557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4655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bcrypt password hashing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3803904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98664" y="3813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38130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JWT HS256 token signing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4151376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98664" y="4160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1605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Token expiry (60 min)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4498848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98664" y="45079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507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Role-based route guards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4846320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98664" y="48554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485546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CORS headers configured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5193792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98664" y="5202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79" y="520293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Env-var secret isolation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5541264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98664" y="55504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5279" y="55504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HTTPS via Railway proxy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89520" y="5888736"/>
            <a:ext cx="292608" cy="2743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98664" y="5897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5897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Law 09-08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20A"/>
                </a:solidFill>
              </a:rPr>
              <a:t>08  ·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7315200" cy="54864"/>
          </a:xfrm>
          <a:prstGeom prst="rect">
            <a:avLst/>
          </a:prstGeom>
          <a:solidFill>
            <a:srgbClr val="C8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Complete ETL pipeline — 67,433 records in &lt;13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Star-schema DW — 12 tables, 5 OLAP views, sub-second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15 secured API endpoints — JWT HS256 + 3-role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5-page interactive dashboard — 4 BI decision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245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Cloud-ready — Railway (API) + Streamlit Cloud (dashboard)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6/6 tests passed — 100% validation coverage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417320"/>
            <a:ext cx="3383280" cy="4206240"/>
          </a:xfrm>
          <a:prstGeom prst="rect">
            <a:avLst/>
          </a:prstGeom>
          <a:solidFill>
            <a:srgbClr val="0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20A"/>
                </a:solidFill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202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📡  Real data connectors
    (ERP / SIS integration)</a:t>
            </a:r>
          </a:p>
          <a:p>
            <a:r>
              <a:t>    (ERP / SIS integration)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243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⏰  Scheduled ETL
    (Airflow cron jobs)</a:t>
            </a:r>
          </a:p>
          <a:p>
            <a:r>
              <a:t>    (Airflow cron jobs)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2841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🤖  Predictive ML
    (dropout risk model)</a:t>
            </a:r>
          </a:p>
          <a:p>
            <a:r>
              <a:t>    (dropout risk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0325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📱  Mobile dashboard
    (React Native app)</a:t>
            </a:r>
          </a:p>
          <a:p>
            <a:r>
              <a:t>    (React Native app)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7365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🔔  Alerting system
    (budget anomaly SMS)</a:t>
            </a:r>
          </a:p>
          <a:p>
            <a:r>
              <a:t>    (budget anomaly SMS)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F8A"/>
                </a:solidFill>
              </a:rPr>
              <a:t>Thank you  ·  Questions?  ·  ENSA Kénitra BI Platform  ·  May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